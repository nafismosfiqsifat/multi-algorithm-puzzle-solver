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0241280" y="914400"/>
            <a:ext cx="822960" cy="548640"/>
          </a:xfrm>
          <a:prstGeom prst="line">
            <a:avLst/>
          </a:prstGeom>
          <a:ln>
            <a:solidFill>
              <a:srgbClr val="3C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H="1">
            <a:off x="10424160" y="1463040"/>
            <a:ext cx="640080" cy="731520"/>
          </a:xfrm>
          <a:prstGeom prst="line">
            <a:avLst/>
          </a:prstGeom>
          <a:ln>
            <a:solidFill>
              <a:srgbClr val="3C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064240" y="1463040"/>
            <a:ext cx="365760" cy="1097280"/>
          </a:xfrm>
          <a:prstGeom prst="line">
            <a:avLst/>
          </a:prstGeom>
          <a:ln>
            <a:solidFill>
              <a:srgbClr val="3C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0241280" y="914400"/>
            <a:ext cx="137160" cy="137160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064240" y="1463040"/>
            <a:ext cx="137160" cy="137160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424160" y="2194560"/>
            <a:ext cx="137160" cy="137160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30000" y="2560320"/>
            <a:ext cx="137160" cy="137160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0972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0F5FF"/>
                </a:solidFill>
              </a:defRPr>
            </a:pPr>
            <a:r>
              <a:t>Multi-Algorithm Puzzle Solver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92024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F0F5FF"/>
                </a:solidFill>
              </a:defRPr>
            </a:pPr>
            <a:r>
              <a:t>AI Search Based Intelligent Puzzle Solving System</a:t>
            </a:r>
          </a:p>
          <a:p>
            <a:pPr>
              <a:defRPr sz="1700">
                <a:solidFill>
                  <a:srgbClr val="F0F5FF"/>
                </a:solidFill>
              </a:defRPr>
            </a:pPr>
          </a:p>
          <a:p>
            <a:pPr>
              <a:defRPr sz="1700">
                <a:solidFill>
                  <a:srgbClr val="F0F5FF"/>
                </a:solidFill>
              </a:defRPr>
            </a:pPr>
            <a:r>
              <a:t>Group 4</a:t>
            </a:r>
          </a:p>
          <a:p>
            <a:pPr>
              <a:defRPr sz="1700">
                <a:solidFill>
                  <a:srgbClr val="F0F5FF"/>
                </a:solidFill>
              </a:defRPr>
            </a:pPr>
            <a:r>
              <a:t>Nafis Mosfiq Sifat</a:t>
            </a:r>
          </a:p>
          <a:p>
            <a:pPr>
              <a:defRPr sz="1700">
                <a:solidFill>
                  <a:srgbClr val="F0F5FF"/>
                </a:solidFill>
              </a:defRPr>
            </a:pPr>
            <a:r>
              <a:t>Mohammad Mominul Islam Raju</a:t>
            </a:r>
          </a:p>
          <a:p>
            <a:pPr>
              <a:defRPr sz="1700">
                <a:solidFill>
                  <a:srgbClr val="F0F5FF"/>
                </a:solidFill>
              </a:defRPr>
            </a:pPr>
            <a:r>
              <a:t>Sudipta Raj Chowdhury</a:t>
            </a:r>
          </a:p>
          <a:p>
            <a:pPr>
              <a:defRPr sz="1700">
                <a:solidFill>
                  <a:srgbClr val="F0F5FF"/>
                </a:solidFill>
              </a:defRPr>
            </a:pPr>
            <a:r>
              <a:t>Sabid Ibna Siddiq</a:t>
            </a:r>
          </a:p>
          <a:p>
            <a:pPr>
              <a:defRPr sz="1700">
                <a:solidFill>
                  <a:srgbClr val="F0F5FF"/>
                </a:solidFill>
              </a:defRPr>
            </a:pPr>
            <a:r>
              <a:t>Mohammad Tarem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0241280" y="914400"/>
            <a:ext cx="822960" cy="548640"/>
          </a:xfrm>
          <a:prstGeom prst="line">
            <a:avLst/>
          </a:prstGeom>
          <a:ln>
            <a:solidFill>
              <a:srgbClr val="3C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H="1">
            <a:off x="10424160" y="1463040"/>
            <a:ext cx="640080" cy="731520"/>
          </a:xfrm>
          <a:prstGeom prst="line">
            <a:avLst/>
          </a:prstGeom>
          <a:ln>
            <a:solidFill>
              <a:srgbClr val="3C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064240" y="1463040"/>
            <a:ext cx="365760" cy="1097280"/>
          </a:xfrm>
          <a:prstGeom prst="line">
            <a:avLst/>
          </a:prstGeom>
          <a:ln>
            <a:solidFill>
              <a:srgbClr val="3C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0241280" y="914400"/>
            <a:ext cx="137160" cy="137160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064240" y="1463040"/>
            <a:ext cx="137160" cy="137160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424160" y="2194560"/>
            <a:ext cx="137160" cy="137160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30000" y="2560320"/>
            <a:ext cx="137160" cy="137160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200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0F5FF"/>
                </a:solidFill>
              </a:defRPr>
            </a:pPr>
            <a:r>
              <a:t>Project Vision: Why This Problem?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81160" y="320040"/>
            <a:ext cx="2286000" cy="347472"/>
          </a:xfrm>
          <a:prstGeom prst="roundRect">
            <a:avLst/>
          </a:prstGeom>
          <a:solidFill>
            <a:srgbClr val="19284B"/>
          </a:solidFill>
          <a:ln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>
                <a:solidFill>
                  <a:srgbClr val="F0F5FF"/>
                </a:solidFill>
              </a:defRPr>
            </a:pPr>
            <a:r>
              <a:t>Presenter: Nafis Mosfiq Sifat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143000"/>
            <a:ext cx="8138160" cy="4526280"/>
          </a:xfrm>
          <a:prstGeom prst="roundRect">
            <a:avLst/>
          </a:prstGeom>
          <a:solidFill>
            <a:srgbClr val="121B37"/>
          </a:solidFill>
          <a:ln>
            <a:solidFill>
              <a:srgbClr val="3C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417320"/>
            <a:ext cx="749807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F0F5FF"/>
                </a:solidFill>
              </a:defRPr>
            </a:pPr>
            <a:r>
              <a:t>• Puzzle solving is a classical Artificial Intelligence problem where the solution is found by exploring possible states.</a:t>
            </a:r>
          </a:p>
          <a:p>
            <a:pPr>
              <a:defRPr sz="1900">
                <a:solidFill>
                  <a:srgbClr val="F0F5FF"/>
                </a:solidFill>
              </a:defRPr>
            </a:pPr>
          </a:p>
          <a:p>
            <a:pPr>
              <a:defRPr sz="1900">
                <a:solidFill>
                  <a:srgbClr val="F0F5FF"/>
                </a:solidFill>
              </a:defRPr>
            </a:pPr>
            <a:r>
              <a:t>• Different puzzles create large search spaces, making manual exploration inefficient.</a:t>
            </a:r>
          </a:p>
          <a:p>
            <a:pPr>
              <a:defRPr sz="1900">
                <a:solidFill>
                  <a:srgbClr val="F0F5FF"/>
                </a:solidFill>
              </a:defRPr>
            </a:pPr>
          </a:p>
          <a:p>
            <a:pPr>
              <a:defRPr sz="1900">
                <a:solidFill>
                  <a:srgbClr val="F0F5FF"/>
                </a:solidFill>
              </a:defRPr>
            </a:pPr>
            <a:r>
              <a:t>• Our project develops a unified AI framework that supports multiple puzzle environments, applies different search algorithms, visualizes the solving process, and compares algorithm efficiency using performance metrics.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0241280" y="914400"/>
            <a:ext cx="822960" cy="548640"/>
          </a:xfrm>
          <a:prstGeom prst="line">
            <a:avLst/>
          </a:prstGeom>
          <a:ln>
            <a:solidFill>
              <a:srgbClr val="3C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H="1">
            <a:off x="10424160" y="1463040"/>
            <a:ext cx="640080" cy="731520"/>
          </a:xfrm>
          <a:prstGeom prst="line">
            <a:avLst/>
          </a:prstGeom>
          <a:ln>
            <a:solidFill>
              <a:srgbClr val="3C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064240" y="1463040"/>
            <a:ext cx="365760" cy="1097280"/>
          </a:xfrm>
          <a:prstGeom prst="line">
            <a:avLst/>
          </a:prstGeom>
          <a:ln>
            <a:solidFill>
              <a:srgbClr val="3C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0241280" y="914400"/>
            <a:ext cx="137160" cy="137160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064240" y="1463040"/>
            <a:ext cx="137160" cy="137160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424160" y="2194560"/>
            <a:ext cx="137160" cy="137160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30000" y="2560320"/>
            <a:ext cx="137160" cy="137160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200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0F5FF"/>
                </a:solidFill>
              </a:defRPr>
            </a:pPr>
            <a:r>
              <a:t>System Architecture: From Input to Solution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81160" y="320040"/>
            <a:ext cx="2286000" cy="347472"/>
          </a:xfrm>
          <a:prstGeom prst="roundRect">
            <a:avLst/>
          </a:prstGeom>
          <a:solidFill>
            <a:srgbClr val="19284B"/>
          </a:solidFill>
          <a:ln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>
                <a:solidFill>
                  <a:srgbClr val="F0F5FF"/>
                </a:solidFill>
              </a:defRPr>
            </a:pPr>
            <a:r>
              <a:t>Presenter: Nafis Mosfiq Sifat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143000"/>
            <a:ext cx="8138160" cy="4526280"/>
          </a:xfrm>
          <a:prstGeom prst="roundRect">
            <a:avLst/>
          </a:prstGeom>
          <a:solidFill>
            <a:srgbClr val="121B37"/>
          </a:solidFill>
          <a:ln>
            <a:solidFill>
              <a:srgbClr val="3C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417320"/>
            <a:ext cx="749807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F0F5FF"/>
                </a:solidFill>
              </a:defRPr>
            </a:pPr>
            <a:r>
              <a:t>User Input</a:t>
            </a:r>
          </a:p>
          <a:p>
            <a:pPr>
              <a:defRPr sz="1900">
                <a:solidFill>
                  <a:srgbClr val="F0F5FF"/>
                </a:solidFill>
              </a:defRPr>
            </a:pPr>
            <a:r>
              <a:t>↓</a:t>
            </a:r>
          </a:p>
          <a:p>
            <a:pPr>
              <a:defRPr sz="1900">
                <a:solidFill>
                  <a:srgbClr val="F0F5FF"/>
                </a:solidFill>
              </a:defRPr>
            </a:pPr>
            <a:r>
              <a:t>Streamlit Interface</a:t>
            </a:r>
          </a:p>
          <a:p>
            <a:pPr>
              <a:defRPr sz="1900">
                <a:solidFill>
                  <a:srgbClr val="F0F5FF"/>
                </a:solidFill>
              </a:defRPr>
            </a:pPr>
            <a:r>
              <a:t>↓</a:t>
            </a:r>
          </a:p>
          <a:p>
            <a:pPr>
              <a:defRPr sz="1900">
                <a:solidFill>
                  <a:srgbClr val="F0F5FF"/>
                </a:solidFill>
              </a:defRPr>
            </a:pPr>
            <a:r>
              <a:t>Puzzle State Representation</a:t>
            </a:r>
          </a:p>
          <a:p>
            <a:pPr>
              <a:defRPr sz="1900">
                <a:solidFill>
                  <a:srgbClr val="F0F5FF"/>
                </a:solidFill>
              </a:defRPr>
            </a:pPr>
            <a:r>
              <a:t>↓</a:t>
            </a:r>
          </a:p>
          <a:p>
            <a:pPr>
              <a:defRPr sz="1900">
                <a:solidFill>
                  <a:srgbClr val="F0F5FF"/>
                </a:solidFill>
              </a:defRPr>
            </a:pPr>
            <a:r>
              <a:t>AI Search Engine</a:t>
            </a:r>
          </a:p>
          <a:p>
            <a:pPr>
              <a:defRPr sz="1900">
                <a:solidFill>
                  <a:srgbClr val="F0F5FF"/>
                </a:solidFill>
              </a:defRPr>
            </a:pPr>
            <a:r>
              <a:t>↓</a:t>
            </a:r>
          </a:p>
          <a:p>
            <a:pPr>
              <a:defRPr sz="1900">
                <a:solidFill>
                  <a:srgbClr val="F0F5FF"/>
                </a:solidFill>
              </a:defRPr>
            </a:pPr>
            <a:r>
              <a:t>Solution Verification</a:t>
            </a:r>
          </a:p>
          <a:p>
            <a:pPr>
              <a:defRPr sz="1900">
                <a:solidFill>
                  <a:srgbClr val="F0F5FF"/>
                </a:solidFill>
              </a:defRPr>
            </a:pPr>
            <a:r>
              <a:t>↓</a:t>
            </a:r>
          </a:p>
          <a:p>
            <a:pPr>
              <a:defRPr sz="1900">
                <a:solidFill>
                  <a:srgbClr val="F0F5FF"/>
                </a:solidFill>
              </a:defRPr>
            </a:pPr>
            <a:r>
              <a:t>Visualization &amp; Performance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0241280" y="914400"/>
            <a:ext cx="822960" cy="548640"/>
          </a:xfrm>
          <a:prstGeom prst="line">
            <a:avLst/>
          </a:prstGeom>
          <a:ln>
            <a:solidFill>
              <a:srgbClr val="3C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H="1">
            <a:off x="10424160" y="1463040"/>
            <a:ext cx="640080" cy="731520"/>
          </a:xfrm>
          <a:prstGeom prst="line">
            <a:avLst/>
          </a:prstGeom>
          <a:ln>
            <a:solidFill>
              <a:srgbClr val="3C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064240" y="1463040"/>
            <a:ext cx="365760" cy="1097280"/>
          </a:xfrm>
          <a:prstGeom prst="line">
            <a:avLst/>
          </a:prstGeom>
          <a:ln>
            <a:solidFill>
              <a:srgbClr val="3C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0241280" y="914400"/>
            <a:ext cx="137160" cy="137160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064240" y="1463040"/>
            <a:ext cx="137160" cy="137160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424160" y="2194560"/>
            <a:ext cx="137160" cy="137160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30000" y="2560320"/>
            <a:ext cx="137160" cy="137160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200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0F5FF"/>
                </a:solidFill>
              </a:defRPr>
            </a:pPr>
            <a:r>
              <a:t>Three Puzzle Worlds Inside One Framework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81160" y="320040"/>
            <a:ext cx="2286000" cy="347472"/>
          </a:xfrm>
          <a:prstGeom prst="roundRect">
            <a:avLst/>
          </a:prstGeom>
          <a:solidFill>
            <a:srgbClr val="19284B"/>
          </a:solidFill>
          <a:ln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>
                <a:solidFill>
                  <a:srgbClr val="F0F5FF"/>
                </a:solidFill>
              </a:defRPr>
            </a:pPr>
            <a:r>
              <a:t>Presenter: Mohammad Mominul Islam Raju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143000"/>
            <a:ext cx="8138160" cy="4526280"/>
          </a:xfrm>
          <a:prstGeom prst="roundRect">
            <a:avLst/>
          </a:prstGeom>
          <a:solidFill>
            <a:srgbClr val="121B37"/>
          </a:solidFill>
          <a:ln>
            <a:solidFill>
              <a:srgbClr val="3C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417320"/>
            <a:ext cx="749807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F0F5FF"/>
                </a:solidFill>
              </a:defRPr>
            </a:pPr>
            <a:r>
              <a:t>8-Puzzle</a:t>
            </a:r>
          </a:p>
          <a:p>
            <a:pPr>
              <a:defRPr sz="1900">
                <a:solidFill>
                  <a:srgbClr val="F0F5FF"/>
                </a:solidFill>
              </a:defRPr>
            </a:pPr>
            <a:r>
              <a:t>• Sliding tile optimization problem</a:t>
            </a:r>
          </a:p>
          <a:p>
            <a:pPr>
              <a:defRPr sz="1900">
                <a:solidFill>
                  <a:srgbClr val="F0F5FF"/>
                </a:solidFill>
              </a:defRPr>
            </a:pPr>
          </a:p>
          <a:p>
            <a:pPr>
              <a:defRPr sz="1900">
                <a:solidFill>
                  <a:srgbClr val="F0F5FF"/>
                </a:solidFill>
              </a:defRPr>
            </a:pPr>
            <a:r>
              <a:t>Maze Solver</a:t>
            </a:r>
          </a:p>
          <a:p>
            <a:pPr>
              <a:defRPr sz="1900">
                <a:solidFill>
                  <a:srgbClr val="F0F5FF"/>
                </a:solidFill>
              </a:defRPr>
            </a:pPr>
            <a:r>
              <a:t>• Finds an efficient path from start to goal</a:t>
            </a:r>
          </a:p>
          <a:p>
            <a:pPr>
              <a:defRPr sz="1900">
                <a:solidFill>
                  <a:srgbClr val="F0F5FF"/>
                </a:solidFill>
              </a:defRPr>
            </a:pPr>
          </a:p>
          <a:p>
            <a:pPr>
              <a:defRPr sz="1900">
                <a:solidFill>
                  <a:srgbClr val="F0F5FF"/>
                </a:solidFill>
              </a:defRPr>
            </a:pPr>
            <a:r>
              <a:t>N-Queens</a:t>
            </a:r>
          </a:p>
          <a:p>
            <a:pPr>
              <a:defRPr sz="1900">
                <a:solidFill>
                  <a:srgbClr val="F0F5FF"/>
                </a:solidFill>
              </a:defRPr>
            </a:pPr>
            <a:r>
              <a:t>• Solves a constraint satisfaction problem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0241280" y="914400"/>
            <a:ext cx="822960" cy="548640"/>
          </a:xfrm>
          <a:prstGeom prst="line">
            <a:avLst/>
          </a:prstGeom>
          <a:ln>
            <a:solidFill>
              <a:srgbClr val="3C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H="1">
            <a:off x="10424160" y="1463040"/>
            <a:ext cx="640080" cy="731520"/>
          </a:xfrm>
          <a:prstGeom prst="line">
            <a:avLst/>
          </a:prstGeom>
          <a:ln>
            <a:solidFill>
              <a:srgbClr val="3C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064240" y="1463040"/>
            <a:ext cx="365760" cy="1097280"/>
          </a:xfrm>
          <a:prstGeom prst="line">
            <a:avLst/>
          </a:prstGeom>
          <a:ln>
            <a:solidFill>
              <a:srgbClr val="3C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0241280" y="914400"/>
            <a:ext cx="137160" cy="137160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064240" y="1463040"/>
            <a:ext cx="137160" cy="137160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424160" y="2194560"/>
            <a:ext cx="137160" cy="137160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30000" y="2560320"/>
            <a:ext cx="137160" cy="137160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200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0F5FF"/>
                </a:solidFill>
              </a:defRPr>
            </a:pPr>
            <a:r>
              <a:t>AI Search Engine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81160" y="320040"/>
            <a:ext cx="2286000" cy="347472"/>
          </a:xfrm>
          <a:prstGeom prst="roundRect">
            <a:avLst/>
          </a:prstGeom>
          <a:solidFill>
            <a:srgbClr val="19284B"/>
          </a:solidFill>
          <a:ln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>
                <a:solidFill>
                  <a:srgbClr val="F0F5FF"/>
                </a:solidFill>
              </a:defRPr>
            </a:pPr>
            <a:r>
              <a:t>Presenter: Mohammad Mominul Islam Raju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143000"/>
            <a:ext cx="8138160" cy="4526280"/>
          </a:xfrm>
          <a:prstGeom prst="roundRect">
            <a:avLst/>
          </a:prstGeom>
          <a:solidFill>
            <a:srgbClr val="121B37"/>
          </a:solidFill>
          <a:ln>
            <a:solidFill>
              <a:srgbClr val="3C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417320"/>
            <a:ext cx="749807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F0F5FF"/>
                </a:solidFill>
              </a:defRPr>
            </a:pPr>
            <a:r>
              <a:t>BFS → Level-based exploration</a:t>
            </a:r>
          </a:p>
          <a:p>
            <a:pPr>
              <a:defRPr sz="1900">
                <a:solidFill>
                  <a:srgbClr val="F0F5FF"/>
                </a:solidFill>
              </a:defRPr>
            </a:pPr>
            <a:r>
              <a:t>DFS → Depth-based exploration</a:t>
            </a:r>
          </a:p>
          <a:p>
            <a:pPr>
              <a:defRPr sz="1900">
                <a:solidFill>
                  <a:srgbClr val="F0F5FF"/>
                </a:solidFill>
              </a:defRPr>
            </a:pPr>
            <a:r>
              <a:t>UCS → Minimum cost search</a:t>
            </a:r>
          </a:p>
          <a:p>
            <a:pPr>
              <a:defRPr sz="1900">
                <a:solidFill>
                  <a:srgbClr val="F0F5FF"/>
                </a:solidFill>
              </a:defRPr>
            </a:pPr>
            <a:r>
              <a:t>Greedy → Heuristic guided search</a:t>
            </a:r>
          </a:p>
          <a:p>
            <a:pPr>
              <a:defRPr sz="1900">
                <a:solidFill>
                  <a:srgbClr val="F0F5FF"/>
                </a:solidFill>
              </a:defRPr>
            </a:pPr>
            <a:r>
              <a:t>A* → Cost + heuristic optimization</a:t>
            </a:r>
          </a:p>
          <a:p>
            <a:pPr>
              <a:defRPr sz="1900">
                <a:solidFill>
                  <a:srgbClr val="F0F5FF"/>
                </a:solidFill>
              </a:defRPr>
            </a:pPr>
          </a:p>
          <a:p>
            <a:pPr>
              <a:defRPr sz="1900">
                <a:solidFill>
                  <a:srgbClr val="F0F5FF"/>
                </a:solidFill>
              </a:defRPr>
            </a:pPr>
            <a:r>
              <a:t>f(n)=g(n)+h(n)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0241280" y="914400"/>
            <a:ext cx="822960" cy="548640"/>
          </a:xfrm>
          <a:prstGeom prst="line">
            <a:avLst/>
          </a:prstGeom>
          <a:ln>
            <a:solidFill>
              <a:srgbClr val="3C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H="1">
            <a:off x="10424160" y="1463040"/>
            <a:ext cx="640080" cy="731520"/>
          </a:xfrm>
          <a:prstGeom prst="line">
            <a:avLst/>
          </a:prstGeom>
          <a:ln>
            <a:solidFill>
              <a:srgbClr val="3C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064240" y="1463040"/>
            <a:ext cx="365760" cy="1097280"/>
          </a:xfrm>
          <a:prstGeom prst="line">
            <a:avLst/>
          </a:prstGeom>
          <a:ln>
            <a:solidFill>
              <a:srgbClr val="3C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0241280" y="914400"/>
            <a:ext cx="137160" cy="137160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064240" y="1463040"/>
            <a:ext cx="137160" cy="137160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424160" y="2194560"/>
            <a:ext cx="137160" cy="137160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30000" y="2560320"/>
            <a:ext cx="137160" cy="137160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200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0F5FF"/>
                </a:solidFill>
              </a:defRPr>
            </a:pPr>
            <a:r>
              <a:t>Software Design &amp; Code Structure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81160" y="320040"/>
            <a:ext cx="2286000" cy="347472"/>
          </a:xfrm>
          <a:prstGeom prst="roundRect">
            <a:avLst/>
          </a:prstGeom>
          <a:solidFill>
            <a:srgbClr val="19284B"/>
          </a:solidFill>
          <a:ln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>
                <a:solidFill>
                  <a:srgbClr val="F0F5FF"/>
                </a:solidFill>
              </a:defRPr>
            </a:pPr>
            <a:r>
              <a:t>Presenter: Sudipta Raj Chowdhury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143000"/>
            <a:ext cx="8138160" cy="4526280"/>
          </a:xfrm>
          <a:prstGeom prst="roundRect">
            <a:avLst/>
          </a:prstGeom>
          <a:solidFill>
            <a:srgbClr val="121B37"/>
          </a:solidFill>
          <a:ln>
            <a:solidFill>
              <a:srgbClr val="3C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417320"/>
            <a:ext cx="749807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F0F5FF"/>
                </a:solidFill>
              </a:defRPr>
            </a:pPr>
            <a:r>
              <a:t>app.py</a:t>
            </a:r>
          </a:p>
          <a:p>
            <a:pPr>
              <a:defRPr sz="1900">
                <a:solidFill>
                  <a:srgbClr val="F0F5FF"/>
                </a:solidFill>
              </a:defRPr>
            </a:pPr>
            <a:r>
              <a:t>→ Controls user interaction and application flow</a:t>
            </a:r>
          </a:p>
          <a:p>
            <a:pPr>
              <a:defRPr sz="1900">
                <a:solidFill>
                  <a:srgbClr val="F0F5FF"/>
                </a:solidFill>
              </a:defRPr>
            </a:pPr>
          </a:p>
          <a:p>
            <a:pPr>
              <a:defRPr sz="1900">
                <a:solidFill>
                  <a:srgbClr val="F0F5FF"/>
                </a:solidFill>
              </a:defRPr>
            </a:pPr>
            <a:r>
              <a:t>core/puzzles</a:t>
            </a:r>
          </a:p>
          <a:p>
            <a:pPr>
              <a:defRPr sz="1900">
                <a:solidFill>
                  <a:srgbClr val="F0F5FF"/>
                </a:solidFill>
              </a:defRPr>
            </a:pPr>
            <a:r>
              <a:t>→ Defines states and possible actions</a:t>
            </a:r>
          </a:p>
          <a:p>
            <a:pPr>
              <a:defRPr sz="1900">
                <a:solidFill>
                  <a:srgbClr val="F0F5FF"/>
                </a:solidFill>
              </a:defRPr>
            </a:pPr>
          </a:p>
          <a:p>
            <a:pPr>
              <a:defRPr sz="1900">
                <a:solidFill>
                  <a:srgbClr val="F0F5FF"/>
                </a:solidFill>
              </a:defRPr>
            </a:pPr>
            <a:r>
              <a:t>core/search</a:t>
            </a:r>
          </a:p>
          <a:p>
            <a:pPr>
              <a:defRPr sz="1900">
                <a:solidFill>
                  <a:srgbClr val="F0F5FF"/>
                </a:solidFill>
              </a:defRPr>
            </a:pPr>
            <a:r>
              <a:t>→ Implements AI algorithms</a:t>
            </a:r>
          </a:p>
          <a:p>
            <a:pPr>
              <a:defRPr sz="1900">
                <a:solidFill>
                  <a:srgbClr val="F0F5FF"/>
                </a:solidFill>
              </a:defRPr>
            </a:pPr>
          </a:p>
          <a:p>
            <a:pPr>
              <a:defRPr sz="1900">
                <a:solidFill>
                  <a:srgbClr val="F0F5FF"/>
                </a:solidFill>
              </a:defRPr>
            </a:pPr>
            <a:r>
              <a:t>ui + metrics</a:t>
            </a:r>
          </a:p>
          <a:p>
            <a:pPr>
              <a:defRPr sz="1900">
                <a:solidFill>
                  <a:srgbClr val="F0F5FF"/>
                </a:solidFill>
              </a:defRPr>
            </a:pPr>
            <a:r>
              <a:t>→ Handles visualization and evaluation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0241280" y="914400"/>
            <a:ext cx="822960" cy="548640"/>
          </a:xfrm>
          <a:prstGeom prst="line">
            <a:avLst/>
          </a:prstGeom>
          <a:ln>
            <a:solidFill>
              <a:srgbClr val="3C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H="1">
            <a:off x="10424160" y="1463040"/>
            <a:ext cx="640080" cy="731520"/>
          </a:xfrm>
          <a:prstGeom prst="line">
            <a:avLst/>
          </a:prstGeom>
          <a:ln>
            <a:solidFill>
              <a:srgbClr val="3C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064240" y="1463040"/>
            <a:ext cx="365760" cy="1097280"/>
          </a:xfrm>
          <a:prstGeom prst="line">
            <a:avLst/>
          </a:prstGeom>
          <a:ln>
            <a:solidFill>
              <a:srgbClr val="3C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0241280" y="914400"/>
            <a:ext cx="137160" cy="137160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064240" y="1463040"/>
            <a:ext cx="137160" cy="137160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424160" y="2194560"/>
            <a:ext cx="137160" cy="137160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30000" y="2560320"/>
            <a:ext cx="137160" cy="137160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200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0F5FF"/>
                </a:solidFill>
              </a:defRPr>
            </a:pPr>
            <a:r>
              <a:t>How The Program Works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81160" y="320040"/>
            <a:ext cx="2286000" cy="347472"/>
          </a:xfrm>
          <a:prstGeom prst="roundRect">
            <a:avLst/>
          </a:prstGeom>
          <a:solidFill>
            <a:srgbClr val="19284B"/>
          </a:solidFill>
          <a:ln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>
                <a:solidFill>
                  <a:srgbClr val="F0F5FF"/>
                </a:solidFill>
              </a:defRPr>
            </a:pPr>
            <a:r>
              <a:t>Presenter: Sudipta Raj Chowdhury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143000"/>
            <a:ext cx="8138160" cy="4526280"/>
          </a:xfrm>
          <a:prstGeom prst="roundRect">
            <a:avLst/>
          </a:prstGeom>
          <a:solidFill>
            <a:srgbClr val="121B37"/>
          </a:solidFill>
          <a:ln>
            <a:solidFill>
              <a:srgbClr val="3C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417320"/>
            <a:ext cx="749807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F0F5FF"/>
                </a:solidFill>
              </a:defRPr>
            </a:pPr>
            <a:r>
              <a:t>1. User selects puzzle and algorithm</a:t>
            </a:r>
          </a:p>
          <a:p>
            <a:pPr>
              <a:defRPr sz="1900">
                <a:solidFill>
                  <a:srgbClr val="F0F5FF"/>
                </a:solidFill>
              </a:defRPr>
            </a:pPr>
            <a:r>
              <a:t>2. Initial state is generated</a:t>
            </a:r>
          </a:p>
          <a:p>
            <a:pPr>
              <a:defRPr sz="1900">
                <a:solidFill>
                  <a:srgbClr val="F0F5FF"/>
                </a:solidFill>
              </a:defRPr>
            </a:pPr>
            <a:r>
              <a:t>3. Search explores possible states</a:t>
            </a:r>
          </a:p>
          <a:p>
            <a:pPr>
              <a:defRPr sz="1900">
                <a:solidFill>
                  <a:srgbClr val="F0F5FF"/>
                </a:solidFill>
              </a:defRPr>
            </a:pPr>
            <a:r>
              <a:t>4. Goal state is checked</a:t>
            </a:r>
          </a:p>
          <a:p>
            <a:pPr>
              <a:defRPr sz="1900">
                <a:solidFill>
                  <a:srgbClr val="F0F5FF"/>
                </a:solidFill>
              </a:defRPr>
            </a:pPr>
            <a:r>
              <a:t>5. Solution path is reconstructed</a:t>
            </a:r>
          </a:p>
          <a:p>
            <a:pPr>
              <a:defRPr sz="1900">
                <a:solidFill>
                  <a:srgbClr val="F0F5FF"/>
                </a:solidFill>
              </a:defRPr>
            </a:pPr>
            <a:r>
              <a:t>6. Final result is visualized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0241280" y="914400"/>
            <a:ext cx="822960" cy="548640"/>
          </a:xfrm>
          <a:prstGeom prst="line">
            <a:avLst/>
          </a:prstGeom>
          <a:ln>
            <a:solidFill>
              <a:srgbClr val="3C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H="1">
            <a:off x="10424160" y="1463040"/>
            <a:ext cx="640080" cy="731520"/>
          </a:xfrm>
          <a:prstGeom prst="line">
            <a:avLst/>
          </a:prstGeom>
          <a:ln>
            <a:solidFill>
              <a:srgbClr val="3C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064240" y="1463040"/>
            <a:ext cx="365760" cy="1097280"/>
          </a:xfrm>
          <a:prstGeom prst="line">
            <a:avLst/>
          </a:prstGeom>
          <a:ln>
            <a:solidFill>
              <a:srgbClr val="3C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0241280" y="914400"/>
            <a:ext cx="137160" cy="137160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064240" y="1463040"/>
            <a:ext cx="137160" cy="137160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424160" y="2194560"/>
            <a:ext cx="137160" cy="137160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30000" y="2560320"/>
            <a:ext cx="137160" cy="137160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200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0F5FF"/>
                </a:solidFill>
              </a:defRPr>
            </a:pPr>
            <a:r>
              <a:t>Inside BFS: Search Logic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81160" y="320040"/>
            <a:ext cx="2286000" cy="347472"/>
          </a:xfrm>
          <a:prstGeom prst="roundRect">
            <a:avLst/>
          </a:prstGeom>
          <a:solidFill>
            <a:srgbClr val="19284B"/>
          </a:solidFill>
          <a:ln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>
                <a:solidFill>
                  <a:srgbClr val="F0F5FF"/>
                </a:solidFill>
              </a:defRPr>
            </a:pPr>
            <a:r>
              <a:t>Presenter: Sabid Ibna Siddiq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143000"/>
            <a:ext cx="8138160" cy="4526280"/>
          </a:xfrm>
          <a:prstGeom prst="roundRect">
            <a:avLst/>
          </a:prstGeom>
          <a:solidFill>
            <a:srgbClr val="121B37"/>
          </a:solidFill>
          <a:ln>
            <a:solidFill>
              <a:srgbClr val="3C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417320"/>
            <a:ext cx="749807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F0F5FF"/>
                </a:solidFill>
              </a:defRPr>
            </a:pPr>
            <a:r>
              <a:t>• Uses queue data structure</a:t>
            </a:r>
          </a:p>
          <a:p>
            <a:pPr>
              <a:defRPr sz="1900">
                <a:solidFill>
                  <a:srgbClr val="F0F5FF"/>
                </a:solidFill>
              </a:defRPr>
            </a:pPr>
            <a:r>
              <a:t>• Explores states level by level</a:t>
            </a:r>
          </a:p>
          <a:p>
            <a:pPr>
              <a:defRPr sz="1900">
                <a:solidFill>
                  <a:srgbClr val="F0F5FF"/>
                </a:solidFill>
              </a:defRPr>
            </a:pPr>
            <a:r>
              <a:t>• Stores explored states to prevent repetition</a:t>
            </a:r>
          </a:p>
          <a:p>
            <a:pPr>
              <a:defRPr sz="1900">
                <a:solidFill>
                  <a:srgbClr val="F0F5FF"/>
                </a:solidFill>
              </a:defRPr>
            </a:pPr>
            <a:r>
              <a:t>• Reconstructs the shortest solution path</a:t>
            </a:r>
          </a:p>
          <a:p>
            <a:pPr>
              <a:defRPr sz="1900">
                <a:solidFill>
                  <a:srgbClr val="F0F5FF"/>
                </a:solidFill>
              </a:defRPr>
            </a:pPr>
          </a:p>
          <a:p>
            <a:pPr>
              <a:defRPr sz="1900">
                <a:solidFill>
                  <a:srgbClr val="F0F5FF"/>
                </a:solidFill>
              </a:defRPr>
            </a:pPr>
            <a:r>
              <a:t>Output: path, runtime, nodes expanded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0241280" y="914400"/>
            <a:ext cx="822960" cy="548640"/>
          </a:xfrm>
          <a:prstGeom prst="line">
            <a:avLst/>
          </a:prstGeom>
          <a:ln>
            <a:solidFill>
              <a:srgbClr val="3C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H="1">
            <a:off x="10424160" y="1463040"/>
            <a:ext cx="640080" cy="731520"/>
          </a:xfrm>
          <a:prstGeom prst="line">
            <a:avLst/>
          </a:prstGeom>
          <a:ln>
            <a:solidFill>
              <a:srgbClr val="3C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064240" y="1463040"/>
            <a:ext cx="365760" cy="1097280"/>
          </a:xfrm>
          <a:prstGeom prst="line">
            <a:avLst/>
          </a:prstGeom>
          <a:ln>
            <a:solidFill>
              <a:srgbClr val="3C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0241280" y="914400"/>
            <a:ext cx="137160" cy="137160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064240" y="1463040"/>
            <a:ext cx="137160" cy="137160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424160" y="2194560"/>
            <a:ext cx="137160" cy="137160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30000" y="2560320"/>
            <a:ext cx="137160" cy="137160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200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0F5FF"/>
                </a:solidFill>
              </a:defRPr>
            </a:pPr>
            <a:r>
              <a:t>Making AI Visible: Visualization Module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81160" y="320040"/>
            <a:ext cx="2286000" cy="347472"/>
          </a:xfrm>
          <a:prstGeom prst="roundRect">
            <a:avLst/>
          </a:prstGeom>
          <a:solidFill>
            <a:srgbClr val="19284B"/>
          </a:solidFill>
          <a:ln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>
                <a:solidFill>
                  <a:srgbClr val="F0F5FF"/>
                </a:solidFill>
              </a:defRPr>
            </a:pPr>
            <a:r>
              <a:t>Presenter: Sabid Ibna Siddiq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143000"/>
            <a:ext cx="8138160" cy="4526280"/>
          </a:xfrm>
          <a:prstGeom prst="roundRect">
            <a:avLst/>
          </a:prstGeom>
          <a:solidFill>
            <a:srgbClr val="121B37"/>
          </a:solidFill>
          <a:ln>
            <a:solidFill>
              <a:srgbClr val="3C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417320"/>
            <a:ext cx="749807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F0F5FF"/>
                </a:solidFill>
              </a:defRPr>
            </a:pPr>
            <a:r>
              <a:t>• 8-Puzzle renderer displays tile movement</a:t>
            </a:r>
          </a:p>
          <a:p>
            <a:pPr>
              <a:defRPr sz="1900">
                <a:solidFill>
                  <a:srgbClr val="F0F5FF"/>
                </a:solidFill>
              </a:defRPr>
            </a:pPr>
          </a:p>
          <a:p>
            <a:pPr>
              <a:defRPr sz="1900">
                <a:solidFill>
                  <a:srgbClr val="F0F5FF"/>
                </a:solidFill>
              </a:defRPr>
            </a:pPr>
            <a:r>
              <a:t>• Maze renderer shows obstacles, route, start and goal positions</a:t>
            </a:r>
          </a:p>
          <a:p>
            <a:pPr>
              <a:defRPr sz="1900">
                <a:solidFill>
                  <a:srgbClr val="F0F5FF"/>
                </a:solidFill>
              </a:defRPr>
            </a:pPr>
          </a:p>
          <a:p>
            <a:pPr>
              <a:defRPr sz="1900">
                <a:solidFill>
                  <a:srgbClr val="F0F5FF"/>
                </a:solidFill>
              </a:defRPr>
            </a:pPr>
            <a:r>
              <a:t>• N-Queens renderer displays the chessboard solution</a:t>
            </a:r>
          </a:p>
          <a:p>
            <a:pPr>
              <a:defRPr sz="1900">
                <a:solidFill>
                  <a:srgbClr val="F0F5FF"/>
                </a:solidFill>
              </a:defRPr>
            </a:pPr>
          </a:p>
          <a:p>
            <a:pPr>
              <a:defRPr sz="1900">
                <a:solidFill>
                  <a:srgbClr val="F0F5FF"/>
                </a:solidFill>
              </a:defRPr>
            </a:pPr>
            <a:r>
              <a:t>Purpose: Transform algorithm decisions into understandable visual results.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0241280" y="914400"/>
            <a:ext cx="822960" cy="548640"/>
          </a:xfrm>
          <a:prstGeom prst="line">
            <a:avLst/>
          </a:prstGeom>
          <a:ln>
            <a:solidFill>
              <a:srgbClr val="3C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H="1">
            <a:off x="10424160" y="1463040"/>
            <a:ext cx="640080" cy="731520"/>
          </a:xfrm>
          <a:prstGeom prst="line">
            <a:avLst/>
          </a:prstGeom>
          <a:ln>
            <a:solidFill>
              <a:srgbClr val="3C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064240" y="1463040"/>
            <a:ext cx="365760" cy="1097280"/>
          </a:xfrm>
          <a:prstGeom prst="line">
            <a:avLst/>
          </a:prstGeom>
          <a:ln>
            <a:solidFill>
              <a:srgbClr val="3C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0241280" y="914400"/>
            <a:ext cx="137160" cy="137160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064240" y="1463040"/>
            <a:ext cx="137160" cy="137160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424160" y="2194560"/>
            <a:ext cx="137160" cy="137160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30000" y="2560320"/>
            <a:ext cx="137160" cy="137160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200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0F5FF"/>
                </a:solidFill>
              </a:defRPr>
            </a:pPr>
            <a:r>
              <a:t>Performance Evaluation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81160" y="320040"/>
            <a:ext cx="2286000" cy="347472"/>
          </a:xfrm>
          <a:prstGeom prst="roundRect">
            <a:avLst/>
          </a:prstGeom>
          <a:solidFill>
            <a:srgbClr val="19284B"/>
          </a:solidFill>
          <a:ln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>
                <a:solidFill>
                  <a:srgbClr val="F0F5FF"/>
                </a:solidFill>
              </a:defRPr>
            </a:pPr>
            <a:r>
              <a:t>Presenter: Mohammad Tarem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143000"/>
            <a:ext cx="8138160" cy="4526280"/>
          </a:xfrm>
          <a:prstGeom prst="roundRect">
            <a:avLst/>
          </a:prstGeom>
          <a:solidFill>
            <a:srgbClr val="121B37"/>
          </a:solidFill>
          <a:ln>
            <a:solidFill>
              <a:srgbClr val="3C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417320"/>
            <a:ext cx="749807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F0F5FF"/>
                </a:solidFill>
              </a:defRPr>
            </a:pPr>
            <a:r>
              <a:t>Algorithms are evaluated using:</a:t>
            </a:r>
          </a:p>
          <a:p>
            <a:pPr>
              <a:defRPr sz="1900">
                <a:solidFill>
                  <a:srgbClr val="F0F5FF"/>
                </a:solidFill>
              </a:defRPr>
            </a:pPr>
          </a:p>
          <a:p>
            <a:pPr>
              <a:defRPr sz="1900">
                <a:solidFill>
                  <a:srgbClr val="F0F5FF"/>
                </a:solidFill>
              </a:defRPr>
            </a:pPr>
            <a:r>
              <a:t>• Runtime</a:t>
            </a:r>
          </a:p>
          <a:p>
            <a:pPr>
              <a:defRPr sz="1900">
                <a:solidFill>
                  <a:srgbClr val="F0F5FF"/>
                </a:solidFill>
              </a:defRPr>
            </a:pPr>
            <a:r>
              <a:t>• Nodes expanded</a:t>
            </a:r>
          </a:p>
          <a:p>
            <a:pPr>
              <a:defRPr sz="1900">
                <a:solidFill>
                  <a:srgbClr val="F0F5FF"/>
                </a:solidFill>
              </a:defRPr>
            </a:pPr>
            <a:r>
              <a:t>• Nodes generated</a:t>
            </a:r>
          </a:p>
          <a:p>
            <a:pPr>
              <a:defRPr sz="1900">
                <a:solidFill>
                  <a:srgbClr val="F0F5FF"/>
                </a:solidFill>
              </a:defRPr>
            </a:pPr>
            <a:r>
              <a:t>• Maximum frontier size</a:t>
            </a:r>
          </a:p>
          <a:p>
            <a:pPr>
              <a:defRPr sz="1900">
                <a:solidFill>
                  <a:srgbClr val="F0F5FF"/>
                </a:solidFill>
              </a:defRPr>
            </a:pPr>
            <a:r>
              <a:t>• Path cost</a:t>
            </a:r>
          </a:p>
          <a:p>
            <a:pPr>
              <a:defRPr sz="1900">
                <a:solidFill>
                  <a:srgbClr val="F0F5FF"/>
                </a:solidFill>
              </a:defRPr>
            </a:pPr>
          </a:p>
          <a:p>
            <a:pPr>
              <a:defRPr sz="1900">
                <a:solidFill>
                  <a:srgbClr val="F0F5FF"/>
                </a:solidFill>
              </a:defRPr>
            </a:pPr>
            <a:r>
              <a:t>These metrics allow objective comparison between search strategies.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0241280" y="914400"/>
            <a:ext cx="822960" cy="548640"/>
          </a:xfrm>
          <a:prstGeom prst="line">
            <a:avLst/>
          </a:prstGeom>
          <a:ln>
            <a:solidFill>
              <a:srgbClr val="3C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H="1">
            <a:off x="10424160" y="1463040"/>
            <a:ext cx="640080" cy="731520"/>
          </a:xfrm>
          <a:prstGeom prst="line">
            <a:avLst/>
          </a:prstGeom>
          <a:ln>
            <a:solidFill>
              <a:srgbClr val="3C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064240" y="1463040"/>
            <a:ext cx="365760" cy="1097280"/>
          </a:xfrm>
          <a:prstGeom prst="line">
            <a:avLst/>
          </a:prstGeom>
          <a:ln>
            <a:solidFill>
              <a:srgbClr val="3C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0241280" y="914400"/>
            <a:ext cx="137160" cy="137160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064240" y="1463040"/>
            <a:ext cx="137160" cy="137160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424160" y="2194560"/>
            <a:ext cx="137160" cy="137160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30000" y="2560320"/>
            <a:ext cx="137160" cy="137160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200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0F5FF"/>
                </a:solidFill>
              </a:defRPr>
            </a:pPr>
            <a:r>
              <a:t>User Experience: Demo Flow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81160" y="320040"/>
            <a:ext cx="2286000" cy="347472"/>
          </a:xfrm>
          <a:prstGeom prst="roundRect">
            <a:avLst/>
          </a:prstGeom>
          <a:solidFill>
            <a:srgbClr val="19284B"/>
          </a:solidFill>
          <a:ln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>
                <a:solidFill>
                  <a:srgbClr val="F0F5FF"/>
                </a:solidFill>
              </a:defRPr>
            </a:pPr>
            <a:r>
              <a:t>Presenter: Mohammad Tarem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143000"/>
            <a:ext cx="8138160" cy="4526280"/>
          </a:xfrm>
          <a:prstGeom prst="roundRect">
            <a:avLst/>
          </a:prstGeom>
          <a:solidFill>
            <a:srgbClr val="121B37"/>
          </a:solidFill>
          <a:ln>
            <a:solidFill>
              <a:srgbClr val="3C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417320"/>
            <a:ext cx="749807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F0F5FF"/>
                </a:solidFill>
              </a:defRPr>
            </a:pPr>
            <a:r>
              <a:t>Select puzzle</a:t>
            </a:r>
          </a:p>
          <a:p>
            <a:pPr>
              <a:defRPr sz="1900">
                <a:solidFill>
                  <a:srgbClr val="F0F5FF"/>
                </a:solidFill>
              </a:defRPr>
            </a:pPr>
            <a:r>
              <a:t>↓</a:t>
            </a:r>
          </a:p>
          <a:p>
            <a:pPr>
              <a:defRPr sz="1900">
                <a:solidFill>
                  <a:srgbClr val="F0F5FF"/>
                </a:solidFill>
              </a:defRPr>
            </a:pPr>
            <a:r>
              <a:t>Choose algorithm</a:t>
            </a:r>
          </a:p>
          <a:p>
            <a:pPr>
              <a:defRPr sz="1900">
                <a:solidFill>
                  <a:srgbClr val="F0F5FF"/>
                </a:solidFill>
              </a:defRPr>
            </a:pPr>
            <a:r>
              <a:t>↓</a:t>
            </a:r>
          </a:p>
          <a:p>
            <a:pPr>
              <a:defRPr sz="1900">
                <a:solidFill>
                  <a:srgbClr val="F0F5FF"/>
                </a:solidFill>
              </a:defRPr>
            </a:pPr>
            <a:r>
              <a:t>Run solver</a:t>
            </a:r>
          </a:p>
          <a:p>
            <a:pPr>
              <a:defRPr sz="1900">
                <a:solidFill>
                  <a:srgbClr val="F0F5FF"/>
                </a:solidFill>
              </a:defRPr>
            </a:pPr>
            <a:r>
              <a:t>↓</a:t>
            </a:r>
          </a:p>
          <a:p>
            <a:pPr>
              <a:defRPr sz="1900">
                <a:solidFill>
                  <a:srgbClr val="F0F5FF"/>
                </a:solidFill>
              </a:defRPr>
            </a:pPr>
            <a:r>
              <a:t>Observe solution visualization</a:t>
            </a:r>
          </a:p>
          <a:p>
            <a:pPr>
              <a:defRPr sz="1900">
                <a:solidFill>
                  <a:srgbClr val="F0F5FF"/>
                </a:solidFill>
              </a:defRPr>
            </a:pPr>
            <a:r>
              <a:t>↓</a:t>
            </a:r>
          </a:p>
          <a:p>
            <a:pPr>
              <a:defRPr sz="1900">
                <a:solidFill>
                  <a:srgbClr val="F0F5FF"/>
                </a:solidFill>
              </a:defRPr>
            </a:pPr>
            <a:r>
              <a:t>Analyze performance results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0241280" y="914400"/>
            <a:ext cx="822960" cy="548640"/>
          </a:xfrm>
          <a:prstGeom prst="line">
            <a:avLst/>
          </a:prstGeom>
          <a:ln>
            <a:solidFill>
              <a:srgbClr val="3C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H="1">
            <a:off x="10424160" y="1463040"/>
            <a:ext cx="640080" cy="731520"/>
          </a:xfrm>
          <a:prstGeom prst="line">
            <a:avLst/>
          </a:prstGeom>
          <a:ln>
            <a:solidFill>
              <a:srgbClr val="3C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064240" y="1463040"/>
            <a:ext cx="365760" cy="1097280"/>
          </a:xfrm>
          <a:prstGeom prst="line">
            <a:avLst/>
          </a:prstGeom>
          <a:ln>
            <a:solidFill>
              <a:srgbClr val="3C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0241280" y="914400"/>
            <a:ext cx="137160" cy="137160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064240" y="1463040"/>
            <a:ext cx="137160" cy="137160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424160" y="2194560"/>
            <a:ext cx="137160" cy="137160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30000" y="2560320"/>
            <a:ext cx="137160" cy="137160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200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0F5FF"/>
                </a:solidFill>
              </a:defRPr>
            </a:pPr>
            <a:r>
              <a:t>Team Development &amp; GitHub Workflow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143000"/>
            <a:ext cx="8138160" cy="4526280"/>
          </a:xfrm>
          <a:prstGeom prst="roundRect">
            <a:avLst/>
          </a:prstGeom>
          <a:solidFill>
            <a:srgbClr val="121B37"/>
          </a:solidFill>
          <a:ln>
            <a:solidFill>
              <a:srgbClr val="3C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417320"/>
            <a:ext cx="749807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F0F5FF"/>
                </a:solidFill>
              </a:defRPr>
            </a:pPr>
            <a:r>
              <a:t>• Modular project architecture</a:t>
            </a:r>
          </a:p>
          <a:p>
            <a:pPr>
              <a:defRPr sz="1900">
                <a:solidFill>
                  <a:srgbClr val="F0F5FF"/>
                </a:solidFill>
              </a:defRPr>
            </a:pPr>
            <a:r>
              <a:t>• Separate development of UI, algorithms, and visualization</a:t>
            </a:r>
          </a:p>
          <a:p>
            <a:pPr>
              <a:defRPr sz="1900">
                <a:solidFill>
                  <a:srgbClr val="F0F5FF"/>
                </a:solidFill>
              </a:defRPr>
            </a:pPr>
            <a:r>
              <a:t>• Continuous improvement through commits</a:t>
            </a:r>
          </a:p>
          <a:p>
            <a:pPr>
              <a:defRPr sz="1900">
                <a:solidFill>
                  <a:srgbClr val="F0F5FF"/>
                </a:solidFill>
              </a:defRPr>
            </a:pPr>
            <a:r>
              <a:t>• Collaborative implementation throughout the semester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0241280" y="914400"/>
            <a:ext cx="822960" cy="548640"/>
          </a:xfrm>
          <a:prstGeom prst="line">
            <a:avLst/>
          </a:prstGeom>
          <a:ln>
            <a:solidFill>
              <a:srgbClr val="3C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H="1">
            <a:off x="10424160" y="1463040"/>
            <a:ext cx="640080" cy="731520"/>
          </a:xfrm>
          <a:prstGeom prst="line">
            <a:avLst/>
          </a:prstGeom>
          <a:ln>
            <a:solidFill>
              <a:srgbClr val="3C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064240" y="1463040"/>
            <a:ext cx="365760" cy="1097280"/>
          </a:xfrm>
          <a:prstGeom prst="line">
            <a:avLst/>
          </a:prstGeom>
          <a:ln>
            <a:solidFill>
              <a:srgbClr val="3C6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0241280" y="914400"/>
            <a:ext cx="137160" cy="137160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064240" y="1463040"/>
            <a:ext cx="137160" cy="137160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424160" y="2194560"/>
            <a:ext cx="137160" cy="137160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30000" y="2560320"/>
            <a:ext cx="137160" cy="137160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200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0F5FF"/>
                </a:solidFill>
              </a:defRPr>
            </a:pPr>
            <a:r>
              <a:t>Conclusion &amp; Future Work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143000"/>
            <a:ext cx="8138160" cy="4526280"/>
          </a:xfrm>
          <a:prstGeom prst="roundRect">
            <a:avLst/>
          </a:prstGeom>
          <a:solidFill>
            <a:srgbClr val="121B37"/>
          </a:solidFill>
          <a:ln>
            <a:solidFill>
              <a:srgbClr val="3C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417320"/>
            <a:ext cx="749807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F0F5FF"/>
                </a:solidFill>
              </a:defRPr>
            </a:pPr>
            <a:r>
              <a:t>Achievements:</a:t>
            </a:r>
          </a:p>
          <a:p>
            <a:pPr>
              <a:defRPr sz="1900">
                <a:solidFill>
                  <a:srgbClr val="F0F5FF"/>
                </a:solidFill>
              </a:defRPr>
            </a:pPr>
            <a:r>
              <a:t>✓ Multi-puzzle AI solver</a:t>
            </a:r>
          </a:p>
          <a:p>
            <a:pPr>
              <a:defRPr sz="1900">
                <a:solidFill>
                  <a:srgbClr val="F0F5FF"/>
                </a:solidFill>
              </a:defRPr>
            </a:pPr>
            <a:r>
              <a:t>✓ Multiple search algorithms</a:t>
            </a:r>
          </a:p>
          <a:p>
            <a:pPr>
              <a:defRPr sz="1900">
                <a:solidFill>
                  <a:srgbClr val="F0F5FF"/>
                </a:solidFill>
              </a:defRPr>
            </a:pPr>
            <a:r>
              <a:t>✓ Interactive visualization</a:t>
            </a:r>
          </a:p>
          <a:p>
            <a:pPr>
              <a:defRPr sz="1900">
                <a:solidFill>
                  <a:srgbClr val="F0F5FF"/>
                </a:solidFill>
              </a:defRPr>
            </a:pPr>
            <a:r>
              <a:t>✓ Performance comparison</a:t>
            </a:r>
          </a:p>
          <a:p>
            <a:pPr>
              <a:defRPr sz="1900">
                <a:solidFill>
                  <a:srgbClr val="F0F5FF"/>
                </a:solidFill>
              </a:defRPr>
            </a:pPr>
          </a:p>
          <a:p>
            <a:pPr>
              <a:defRPr sz="1900">
                <a:solidFill>
                  <a:srgbClr val="F0F5FF"/>
                </a:solidFill>
              </a:defRPr>
            </a:pPr>
            <a:r>
              <a:t>Future:</a:t>
            </a:r>
          </a:p>
          <a:p>
            <a:pPr>
              <a:defRPr sz="1900">
                <a:solidFill>
                  <a:srgbClr val="F0F5FF"/>
                </a:solidFill>
              </a:defRPr>
            </a:pPr>
            <a:r>
              <a:t>→ More puzzle environments</a:t>
            </a:r>
          </a:p>
          <a:p>
            <a:pPr>
              <a:defRPr sz="1900">
                <a:solidFill>
                  <a:srgbClr val="F0F5FF"/>
                </a:solidFill>
              </a:defRPr>
            </a:pPr>
            <a:r>
              <a:t>→ Improved animations</a:t>
            </a:r>
          </a:p>
          <a:p>
            <a:pPr>
              <a:defRPr sz="1900">
                <a:solidFill>
                  <a:srgbClr val="F0F5FF"/>
                </a:solidFill>
              </a:defRPr>
            </a:pPr>
            <a:r>
              <a:t>→ Web deployment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